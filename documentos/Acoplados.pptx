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1602700" cy="3240405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61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61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61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61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68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3341" autoAdjust="0"/>
  </p:normalViewPr>
  <p:slideViewPr>
    <p:cSldViewPr>
      <p:cViewPr>
        <p:scale>
          <a:sx n="33" d="100"/>
          <a:sy n="33" d="100"/>
        </p:scale>
        <p:origin x="2622" y="-738"/>
      </p:cViewPr>
      <p:guideLst>
        <p:guide orient="horz" pos="10206"/>
        <p:guide pos="6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BR"/>
          </a:p>
        </p:txBody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0838" y="10066338"/>
            <a:ext cx="18361025" cy="694531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40088" y="18362613"/>
            <a:ext cx="15122525" cy="8280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6563" y="20823238"/>
            <a:ext cx="18362612" cy="64357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06563" y="13733463"/>
            <a:ext cx="18362612" cy="70897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7950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87755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9500" y="7253288"/>
            <a:ext cx="9545638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79500" y="10275888"/>
            <a:ext cx="9545638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0974388" y="7253288"/>
            <a:ext cx="9548812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0974388" y="10275888"/>
            <a:ext cx="9548812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9500" y="1290638"/>
            <a:ext cx="7107238" cy="548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45500" y="1290638"/>
            <a:ext cx="12077700" cy="276558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9500" y="6780213"/>
            <a:ext cx="7107238" cy="22166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33863" y="22682200"/>
            <a:ext cx="12961937" cy="2678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33863" y="2895600"/>
            <a:ext cx="12961937" cy="194421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233863" y="25360313"/>
            <a:ext cx="12961937" cy="3803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5662275" y="1296988"/>
            <a:ext cx="4860925" cy="27649487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079500" y="1296988"/>
            <a:ext cx="14430375" cy="27649487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296988"/>
            <a:ext cx="194437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7561263"/>
            <a:ext cx="19443700" cy="2138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80288" y="29508450"/>
            <a:ext cx="68421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813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4700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2pPr>
      <a:lvl3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3pPr>
      <a:lvl4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4pPr>
      <a:lvl5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5pPr>
      <a:lvl6pPr marL="4572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6pPr>
      <a:lvl7pPr marL="9144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7pPr>
      <a:lvl8pPr marL="13716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8pPr>
      <a:lvl9pPr marL="18288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9pPr>
    </p:titleStyle>
    <p:bodyStyle>
      <a:lvl1pPr marL="1157288" indent="-1157288" algn="l" defTabSz="3086100" rtl="0" eaLnBrk="0" fontAlgn="base" hangingPunct="0">
        <a:spcBef>
          <a:spcPct val="20000"/>
        </a:spcBef>
        <a:spcAft>
          <a:spcPct val="0"/>
        </a:spcAft>
        <a:buChar char="•"/>
        <a:defRPr sz="10800">
          <a:solidFill>
            <a:schemeClr val="tx1"/>
          </a:solidFill>
          <a:latin typeface="+mn-lt"/>
          <a:ea typeface="+mn-ea"/>
          <a:cs typeface="+mn-cs"/>
        </a:defRPr>
      </a:lvl1pPr>
      <a:lvl2pPr marL="2508250" indent="-965200" algn="l" defTabSz="3086100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57625" indent="-771525" algn="l" defTabSz="3086100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400675" indent="-771525" algn="l" defTabSz="3086100" rtl="0" eaLnBrk="0" fontAlgn="base" hangingPunct="0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</a:defRPr>
      </a:lvl4pPr>
      <a:lvl5pPr marL="6943725" indent="-771525" algn="l" defTabSz="3086100" rtl="0" eaLnBrk="0" fontAlgn="base" hangingPunct="0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5pPr>
      <a:lvl6pPr marL="74009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6pPr>
      <a:lvl7pPr marL="78581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7pPr>
      <a:lvl8pPr marL="83153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8pPr>
      <a:lvl9pPr marL="87725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" y="7986"/>
            <a:ext cx="21583587" cy="32388077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27553" y="2016449"/>
            <a:ext cx="21602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2800" b="1" dirty="0">
                <a:ea typeface="ＭＳ Ｐゴシック" pitchFamily="34" charset="-128"/>
                <a:cs typeface="Times New Roman" pitchFamily="18" charset="0"/>
              </a:rPr>
              <a:t>Gabriel Vazquez; Gian Carlos; Leticia Rodrigues; Said Sales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474927" y="3623655"/>
            <a:ext cx="9964737" cy="389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258888" eaLnBrk="1" hangingPunct="1"/>
            <a:r>
              <a:rPr lang="pt-BR" sz="2700" b="1" dirty="0">
                <a:ea typeface="ＭＳ Ｐゴシック" pitchFamily="34" charset="-128"/>
              </a:rPr>
              <a:t>Sobre a equipe</a:t>
            </a:r>
          </a:p>
          <a:p>
            <a:pPr algn="just"/>
            <a:r>
              <a:rPr lang="pt-BR" sz="2000" dirty="0"/>
              <a:t>   O projeto </a:t>
            </a:r>
            <a:r>
              <a:rPr lang="pt-BR" sz="2000" b="1" dirty="0"/>
              <a:t>Empathize</a:t>
            </a:r>
            <a:r>
              <a:rPr lang="pt-BR" sz="2000" dirty="0"/>
              <a:t> contou com uma equipe altamente eficiente durante todas as etapas de desenvolvimento, mantendo o foco na criação de um gerenciador de arrecadações funcional e com prioridades bem definidas. Nossa principal meta foi desenvolver um </a:t>
            </a:r>
            <a:r>
              <a:rPr lang="pt-BR" sz="2000" b="1" dirty="0"/>
              <a:t>backend robusto</a:t>
            </a:r>
            <a:r>
              <a:rPr lang="pt-BR" sz="2000" dirty="0"/>
              <a:t>, capaz de oferecer ampla capacidade administrativa.</a:t>
            </a:r>
          </a:p>
          <a:p>
            <a:pPr algn="just"/>
            <a:r>
              <a:rPr lang="pt-BR" sz="2000" dirty="0"/>
              <a:t>   Desde o início, a equipe buscou compreender como atender da melhor forma todas as partes envolvidas — </a:t>
            </a:r>
            <a:r>
              <a:rPr lang="pt-BR" sz="2000" b="1" dirty="0"/>
              <a:t>alunos, mentores e beneficiados</a:t>
            </a:r>
            <a:r>
              <a:rPr lang="pt-BR" sz="2000" dirty="0"/>
              <a:t>. A interface, projetada para ser intuitiva e de fácil uso, facilitará tanto o trabalho dos contribuintes quanto o da equipe interna, simplificando o registro de dados. Além disso, o design acolhedor e receptivo visa atrair ainda mais contribuintes e fortalecer o engajamento com a causa.</a:t>
            </a:r>
          </a:p>
          <a:p>
            <a:pPr algn="just" defTabSz="1258888" eaLnBrk="1" hangingPunct="1">
              <a:spcAft>
                <a:spcPts val="900"/>
              </a:spcAft>
            </a:pPr>
            <a:endParaRPr lang="pt-BR" sz="2000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514350"/>
            <a:ext cx="1841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6075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798" y="738655"/>
            <a:ext cx="20945545" cy="1693956"/>
          </a:xfrm>
        </p:spPr>
        <p:txBody>
          <a:bodyPr/>
          <a:lstStyle/>
          <a:p>
            <a:pPr eaLnBrk="1" hangingPunct="1"/>
            <a:r>
              <a:rPr lang="pt-BR" sz="4400" b="1" dirty="0"/>
              <a:t>Empathize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155790" y="216249"/>
            <a:ext cx="19359562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08610" tIns="154305" rIns="308610" bIns="154305" anchor="ctr"/>
          <a:lstStyle/>
          <a:p>
            <a:pPr algn="ctr" eaLnBrk="1" hangingPunct="1"/>
            <a:r>
              <a:rPr lang="pt-BR" sz="6000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374" y="3594871"/>
            <a:ext cx="9964737" cy="420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258888" eaLnBrk="1" hangingPunct="1"/>
            <a:r>
              <a:rPr lang="pt-BR" sz="2700" b="1" dirty="0">
                <a:ea typeface="ＭＳ Ｐゴシック" pitchFamily="34" charset="-128"/>
              </a:rPr>
              <a:t>Problema a ser tratado</a:t>
            </a:r>
          </a:p>
          <a:p>
            <a:pPr algn="just"/>
            <a:r>
              <a:rPr lang="pt-BR" sz="2000" dirty="0"/>
              <a:t>   Ao iniciar o desenvolvimento do projeto a equipe se deparou com um desafio que ia além das questões técnicas: </a:t>
            </a:r>
            <a:r>
              <a:rPr lang="pt-BR" sz="2000" b="1" dirty="0"/>
              <a:t>a dificuldade de tornar compreensível e valorizado o papel das tecnologias inteligentes</a:t>
            </a:r>
            <a:r>
              <a:rPr lang="pt-BR" sz="2000" dirty="0"/>
              <a:t> dentro de uma proposta social. Observou-se que grande parte do público </a:t>
            </a:r>
            <a:r>
              <a:rPr lang="pt-BR" sz="2000" b="1" dirty="0"/>
              <a:t>não reconhece a importância desses recursos digitais.</a:t>
            </a:r>
            <a:endParaRPr lang="pt-BR" sz="2000" dirty="0"/>
          </a:p>
          <a:p>
            <a:pPr algn="just"/>
            <a:r>
              <a:rPr lang="pt-BR" sz="2000" dirty="0"/>
              <a:t>   Essa falta de reconhecimento gerou obstáculos tanto na definição das funcionalidades do sistema quanto na criação de uma interface que despertasse engajamento. Tornou-se evidente que não bastava desenvolver um gerenciador funcional; era necessário </a:t>
            </a:r>
            <a:r>
              <a:rPr lang="pt-BR" sz="2000" b="1" dirty="0"/>
              <a:t>traduzir o impacto ético e social da tecnologia</a:t>
            </a:r>
            <a:r>
              <a:rPr lang="pt-BR" sz="2000" dirty="0"/>
              <a:t> de forma acessível e significativa. Através de uma  reunião a equipe compreendeu que o design do sistema deveria ir além da técnica, incorporando valores de </a:t>
            </a:r>
            <a:r>
              <a:rPr lang="pt-BR" sz="2000" b="1" dirty="0"/>
              <a:t>empatia, responsabilidade e transparência</a:t>
            </a:r>
            <a:r>
              <a:rPr lang="pt-BR" sz="2000" dirty="0"/>
              <a:t>, para que o usuário percebesse o verdadeiro propósito do projeto e se sentisse parte dele.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817" y="25160336"/>
            <a:ext cx="9990284" cy="389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258888" eaLnBrk="1" hangingPunct="1"/>
            <a:r>
              <a:rPr lang="pt-BR" sz="2700" b="1" dirty="0">
                <a:ea typeface="ＭＳ Ｐゴシック" pitchFamily="34" charset="-128"/>
              </a:rPr>
              <a:t>Solução proposta</a:t>
            </a:r>
          </a:p>
          <a:p>
            <a:r>
              <a:rPr lang="pt-BR" sz="2000" dirty="0"/>
              <a:t>   Diante dos desafios apresentados, assumimos a responsabilidade de solucioná-los por meio do desenvolvimento de um </a:t>
            </a:r>
            <a:r>
              <a:rPr lang="pt-BR" sz="2000" b="1" dirty="0"/>
              <a:t>gerenciador de arrecadações</a:t>
            </a:r>
            <a:r>
              <a:rPr lang="pt-BR" sz="2000" dirty="0"/>
              <a:t> para o projeto Lideranças Empáticas. Paralelamente à criação desse sistema, estabelecemos como meta elaborar uma ferramenta que transmitisse </a:t>
            </a:r>
            <a:r>
              <a:rPr lang="pt-BR" sz="2000" b="1" dirty="0"/>
              <a:t>acolhimento, empatia e compaixão</a:t>
            </a:r>
            <a:r>
              <a:rPr lang="pt-BR" sz="2000" dirty="0"/>
              <a:t> aos seus usuários.</a:t>
            </a:r>
          </a:p>
          <a:p>
            <a:r>
              <a:rPr lang="pt-BR" sz="2000" dirty="0"/>
              <a:t>    O </a:t>
            </a:r>
            <a:r>
              <a:rPr lang="pt-BR" sz="2000" b="1" dirty="0"/>
              <a:t>Empathize</a:t>
            </a:r>
            <a:r>
              <a:rPr lang="pt-BR" sz="2000" dirty="0"/>
              <a:t> foi idealizado como um gerenciador intuitivo e de fácil utilização, tanto para contribuintes quanto para administradores. Seu </a:t>
            </a:r>
            <a:r>
              <a:rPr lang="pt-BR" sz="2000" b="1" dirty="0"/>
              <a:t>design minimalista</a:t>
            </a:r>
            <a:r>
              <a:rPr lang="pt-BR" sz="2000" dirty="0"/>
              <a:t> busca oferecer uma experiência simples e agradável, garantindo que os apoiadores do projeto possam utilizar a ferramenta sem dificuldades. Além disso, o sistema foi projetado com um </a:t>
            </a:r>
            <a:r>
              <a:rPr lang="pt-BR" sz="2000" b="1" dirty="0"/>
              <a:t>backend robusto e eficiente</a:t>
            </a:r>
            <a:r>
              <a:rPr lang="pt-BR" sz="2000" dirty="0"/>
              <a:t>, priorizando estabilidade e desempenho dentro do prazo estipulado.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" y="2292813"/>
            <a:ext cx="22196907" cy="101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b="1" kern="0" dirty="0"/>
              <a:t>Professores: Cristina Leite; David de Oliveira; Francisco de Souza; Kátia Milani; Leonardo Lugoboni; Robson de Oliveira</a:t>
            </a:r>
            <a:endParaRPr lang="pt-BR" sz="4400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6299" y="25160336"/>
            <a:ext cx="9990284" cy="432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258888" eaLnBrk="1" hangingPunct="1"/>
            <a:r>
              <a:rPr lang="pt-BR" sz="2700" b="1" dirty="0">
                <a:ea typeface="ＭＳ Ｐゴシック" pitchFamily="34" charset="-128"/>
              </a:rPr>
              <a:t>Futuro do projeto</a:t>
            </a:r>
          </a:p>
          <a:p>
            <a:r>
              <a:rPr lang="pt-BR" sz="2800" dirty="0"/>
              <a:t> </a:t>
            </a:r>
            <a:r>
              <a:rPr lang="pt-BR" sz="2000" dirty="0"/>
              <a:t>   Apesar de ser um projeto universitário, o </a:t>
            </a:r>
            <a:r>
              <a:rPr lang="pt-BR" sz="2000" b="1" dirty="0"/>
              <a:t>Empathize</a:t>
            </a:r>
            <a:r>
              <a:rPr lang="pt-BR" sz="2000" dirty="0"/>
              <a:t> apresenta grande potencial de desenvolvimento, especialmente se receber investimento de tempo e atenção adequados. Uma das melhorias que a equipe pretende implementar futuramente é a </a:t>
            </a:r>
            <a:r>
              <a:rPr lang="pt-BR" sz="2000" b="1" dirty="0"/>
              <a:t>ampliação das ferramentas de acessibilidade</a:t>
            </a:r>
            <a:r>
              <a:rPr lang="pt-BR" sz="2000" dirty="0"/>
              <a:t>, atendendo a diferentes tipos de deficiência, como visual e auditiva. Entre as propostas, destacam-se a </a:t>
            </a:r>
            <a:r>
              <a:rPr lang="pt-BR" sz="2000" b="1" dirty="0"/>
              <a:t>integração de leitores de texto</a:t>
            </a:r>
            <a:r>
              <a:rPr lang="pt-BR" sz="2000" dirty="0"/>
              <a:t> e </a:t>
            </a:r>
            <a:r>
              <a:rPr lang="pt-BR" sz="2000" b="1" dirty="0"/>
              <a:t>filtros de contraste e cor</a:t>
            </a:r>
            <a:r>
              <a:rPr lang="pt-BR" sz="2000" dirty="0"/>
              <a:t>, voltados a usuários com limitações visuais.</a:t>
            </a:r>
          </a:p>
          <a:p>
            <a:r>
              <a:rPr lang="pt-BR" sz="2000" dirty="0"/>
              <a:t>    Além dos aprimoramentos em acessibilidade, o projeto também possui potencial para </a:t>
            </a:r>
            <a:r>
              <a:rPr lang="pt-BR" sz="2000" b="1" dirty="0"/>
              <a:t>expandir seu escopo</a:t>
            </a:r>
            <a:r>
              <a:rPr lang="pt-BR" sz="2000" dirty="0"/>
              <a:t>. No futuro, o sistema poderá evoluir de um simples gerenciador de arrecadações para um </a:t>
            </a:r>
            <a:r>
              <a:rPr lang="pt-BR" sz="2000" b="1" dirty="0"/>
              <a:t>gerenciador geral</a:t>
            </a:r>
            <a:r>
              <a:rPr lang="pt-BR" sz="2000" dirty="0"/>
              <a:t>, integrando todas as áreas do programa </a:t>
            </a:r>
            <a:r>
              <a:rPr lang="pt-BR" sz="2000" b="1" dirty="0"/>
              <a:t>Lideranças Empáticas</a:t>
            </a:r>
            <a:r>
              <a:rPr lang="pt-BR" sz="2000" dirty="0"/>
              <a:t>. Dessa forma, o projeto alcançaria plenamente seu propósito de oferecer uma plataforma unificada, eficiente e inclusiva.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232" y="8016920"/>
            <a:ext cx="965267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58888" eaLnBrk="1" hangingPunct="1"/>
            <a:r>
              <a:rPr lang="pt-BR" sz="4400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258888" eaLnBrk="1" hangingPunct="1">
              <a:spcAft>
                <a:spcPts val="900"/>
              </a:spcAft>
            </a:pPr>
            <a:r>
              <a:rPr lang="pt-BR" sz="2800" dirty="0"/>
              <a:t> </a:t>
            </a:r>
            <a:r>
              <a:rPr lang="pt-BR" sz="2000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5" y="30270347"/>
            <a:ext cx="2322216" cy="2336730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3447" y="30290399"/>
            <a:ext cx="2322215" cy="2329450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1019" y="10282931"/>
            <a:ext cx="1988831" cy="1027479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2467" y="9808455"/>
            <a:ext cx="1792699" cy="1792699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6683" y="9806508"/>
            <a:ext cx="1258846" cy="1777072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038" y="9861144"/>
            <a:ext cx="1477652" cy="1477652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1685" y="10168823"/>
            <a:ext cx="1689775" cy="1267331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913" y="10005160"/>
            <a:ext cx="1175569" cy="1175569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4065" y="9962501"/>
            <a:ext cx="1568383" cy="1568383"/>
          </a:xfrm>
          <a:prstGeom prst="rect">
            <a:avLst/>
          </a:prstGeom>
        </p:spPr>
      </p:pic>
      <p:pic>
        <p:nvPicPr>
          <p:cNvPr id="30" name="Imagem 29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8DBDD389-151C-29CA-EF8A-58C773B8B7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03" y="12561100"/>
            <a:ext cx="5705334" cy="5705334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01196D7C-18EF-B1B1-E9F9-A8E3C3046511}"/>
              </a:ext>
            </a:extLst>
          </p:cNvPr>
          <p:cNvSpPr txBox="1"/>
          <p:nvPr/>
        </p:nvSpPr>
        <p:spPr>
          <a:xfrm>
            <a:off x="1649502" y="11858184"/>
            <a:ext cx="5978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Objetivos de Desenvolvimento Sustentável (ODS) relacionados ao projetos: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9E40CE9-2F48-43AA-B3C1-B0B1082436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64" y="7746498"/>
            <a:ext cx="8539337" cy="569289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23EDE48-9A64-4B3C-903F-52E961CFCA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679" y="9968649"/>
            <a:ext cx="1341761" cy="1341761"/>
          </a:xfrm>
          <a:prstGeom prst="rect">
            <a:avLst/>
          </a:prstGeom>
        </p:spPr>
      </p:pic>
      <p:pic>
        <p:nvPicPr>
          <p:cNvPr id="25" name="Imagem 2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3B3BA43-690E-054A-E260-6899A475AE9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37" y="12519794"/>
            <a:ext cx="12192000" cy="5667375"/>
          </a:xfrm>
          <a:prstGeom prst="rect">
            <a:avLst/>
          </a:prstGeom>
        </p:spPr>
      </p:pic>
      <p:pic>
        <p:nvPicPr>
          <p:cNvPr id="34" name="Imagem 33" descr="Dashboard do grupo&#10;">
            <a:extLst>
              <a:ext uri="{FF2B5EF4-FFF2-40B4-BE49-F238E27FC236}">
                <a16:creationId xmlns:a16="http://schemas.microsoft.com/office/drawing/2014/main" id="{7F083BD6-DA81-9B22-253C-1AF8B1A567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9" y="19195960"/>
            <a:ext cx="9990284" cy="4651726"/>
          </a:xfrm>
          <a:prstGeom prst="rect">
            <a:avLst/>
          </a:prstGeom>
        </p:spPr>
      </p:pic>
      <p:pic>
        <p:nvPicPr>
          <p:cNvPr id="35" name="Imagem 34" descr="Projetos do grupo">
            <a:extLst>
              <a:ext uri="{FF2B5EF4-FFF2-40B4-BE49-F238E27FC236}">
                <a16:creationId xmlns:a16="http://schemas.microsoft.com/office/drawing/2014/main" id="{AD179962-EA16-CBAA-C1E1-EF63A025AD2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09" y="19195960"/>
            <a:ext cx="10040827" cy="465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http://purl.org/dc/terms/"/>
    <ds:schemaRef ds:uri="1d2798d9-1030-4cc5-be7b-200f9e628651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8ca2a57e-8138-4b57-956a-eb6e2c7049cc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1432</TotalTime>
  <Words>602</Words>
  <Application>Microsoft Office PowerPoint</Application>
  <PresentationFormat>Personalizar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Empathize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Gian Carlos Lemes Vieira - 25027511</cp:lastModifiedBy>
  <cp:revision>56</cp:revision>
  <dcterms:created xsi:type="dcterms:W3CDTF">2006-11-04T15:46:42Z</dcterms:created>
  <dcterms:modified xsi:type="dcterms:W3CDTF">2025-11-02T14:16:10Z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